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858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Spectral-Matching and Deep-Learning System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Real-Time Mineral Identification from Raman Spectra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7863840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 [Surname]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478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supervision of [Advisor 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8039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8,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330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[Discipline]  ·  [Institution Name]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731520"/>
            <a:ext cx="8375904" cy="932688"/>
          </a:xfrm>
          <a:prstGeom prst="rect">
            <a:avLst/>
          </a:prstGeom>
          <a:solidFill>
            <a:srgbClr val="EE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786384"/>
            <a:ext cx="8156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Raman scattering produces a vibrational spectrum {(νi, Ii)}ᵢ₌₁ᴿ acting as a mineral fingerprint: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" y="1078992"/>
            <a:ext cx="8156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I(ν)  =  Σk Ak ℒ(ν; νk, γk)  +  B(ν)  +  η(ν)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" y="1408176"/>
            <a:ext cx="8156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 = Lorentzian profile   B(ν) = fluorescence baseline   η = detector noise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773936"/>
            <a:ext cx="83759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 identification?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048256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instruments now exist; expert peak-matching does not scale.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RRUFF public library covers &gt;4,000 species — manual lookup is the dominant bottleneck.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reduces to estimating {(νk, Ak, γk)} from I(ν) and matching a reference library.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1773936"/>
            <a:ext cx="2880360" cy="1298448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82880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Domains directly affected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25312" y="21031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Geology &amp; planetary science (Mars SHERLOC)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Cultural-heritage pigment analysis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mineralogy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process monitoring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Problem Statement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731520"/>
            <a:ext cx="7644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query  q = {(νi, Ii)}ᵢ₌₁ᴿ  and reference library  ℛ = {rm}m₌₁ᴹ  defined on canonical grid  ν* ∈ ℝP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0698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69848"/>
            <a:ext cx="7644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Ranked list  ((m₁,c₁), …, (m₅,c₅))  with confidences c(k) ∈ [0, 1]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Non-negative weight vector  x ∈ ℝM≥₀  such that  ‖Aᵗx − q̃‖₂  is minimised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where A is the row-stacked reference matrix and q̃ is the preprocessed query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1874520"/>
            <a:ext cx="73700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wall-clock budget  τ ≤ 1 s  on commodity hardware  (single laptop GPU, 16 GB RAM)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240280"/>
            <a:ext cx="83759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choices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523744"/>
          <a:ext cx="8375904" cy="1243584"/>
        </p:xfrm>
        <a:graphic>
          <a:graphicData uri="http://schemas.openxmlformats.org/drawingml/2006/table">
            <a:tbl>
              <a:tblPr/>
              <a:tblGrid>
                <a:gridCol w="2103120"/>
                <a:gridCol w="2606040"/>
                <a:gridCol w="3383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Parameter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 adopted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Consequence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Canonical grid range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[100, 4000] cm⁻¹, Δν = 2 cm⁻¹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 = 1,951 channels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Library size 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2,481 unique minerals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Synthetic-25 ∪ RRUFF-2456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Top-K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 = 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Aligns with expert workflow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Peak 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Lorentzian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Matches lifetime broadening of optical phonons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1234440" cy="512064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7276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719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47088" y="1572768"/>
            <a:ext cx="1371600" cy="512064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57276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(§5)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1828800"/>
            <a:ext cx="292608" cy="0"/>
          </a:xfrm>
          <a:prstGeom prst="line">
            <a:avLst/>
          </a:prstGeom>
          <a:noFill/>
          <a:ln w="25400">
            <a:solidFill>
              <a:srgbClr val="3A7C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9584" y="1554480"/>
            <a:ext cx="0" cy="1124712"/>
          </a:xfrm>
          <a:prstGeom prst="line">
            <a:avLst/>
          </a:prstGeom>
          <a:noFill/>
          <a:ln w="25400">
            <a:solidFill>
              <a:srgbClr val="3A7C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9584" y="1554480"/>
            <a:ext cx="256032" cy="0"/>
          </a:xfrm>
          <a:prstGeom prst="line">
            <a:avLst/>
          </a:prstGeom>
          <a:noFill/>
          <a:ln w="25400">
            <a:solidFill>
              <a:srgbClr val="3A7C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9584" y="2679192"/>
            <a:ext cx="256032" cy="0"/>
          </a:xfrm>
          <a:prstGeom prst="line">
            <a:avLst/>
          </a:prstGeom>
          <a:noFill/>
          <a:ln w="25400">
            <a:solidFill>
              <a:srgbClr val="3A7C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298448"/>
            <a:ext cx="1508760" cy="512064"/>
          </a:xfrm>
          <a:prstGeom prst="rect">
            <a:avLst/>
          </a:prstGeom>
          <a:solidFill>
            <a:srgbClr val="F5E6E8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298448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2148840"/>
            <a:ext cx="1508760" cy="512064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14884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1-D ResNet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67528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67528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41848" y="1298448"/>
            <a:ext cx="1325880" cy="51206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41848" y="1298448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41848" y="2148840"/>
            <a:ext cx="1325880" cy="512064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2148840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86016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86016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60336" y="1298448"/>
            <a:ext cx="1508760" cy="51206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0336" y="1298448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60336" y="2148840"/>
            <a:ext cx="1508760" cy="512064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214884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4048" y="3218688"/>
            <a:ext cx="8375904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218688"/>
            <a:ext cx="54864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246120"/>
            <a:ext cx="8174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matching always runs as a deterministic safety net. The 1-D ResNet and RF classifiers enter the dispatch only if their top-1 confidence exceeds τmin = 0.55, preventing confidently-wrong out-of-distribution predictions.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raw (ν_raw, I_raw), produce normalised  q̃ ∈ ℝP  on the canonical grid: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8375904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51560"/>
            <a:ext cx="274320" cy="4754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515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0881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interpolation onto ν*: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4528" y="1088136"/>
            <a:ext cx="4261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I_grid = interp(ν*, ν_raw, I_raw)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545336"/>
            <a:ext cx="83759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545336"/>
            <a:ext cx="274320" cy="4754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453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58191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Cosmic-ray suppression (5-point ratio test):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24528" y="1581912"/>
            <a:ext cx="4261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 ↦  Ī_nbr · 𝟭[Ii / maxj Ij &gt; ρ]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039112"/>
            <a:ext cx="8375904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039112"/>
            <a:ext cx="274320" cy="4754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03911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0756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Savitzky–Golay smoothing: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24528" y="2075688"/>
            <a:ext cx="4261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w = 5, polynomial order p =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2532888"/>
            <a:ext cx="83759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532888"/>
            <a:ext cx="274320" cy="4754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53288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2569464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baseline removal: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24528" y="2569464"/>
            <a:ext cx="4261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Σi wi(yi − zi)² + λΣi(Δ²zi)²    λ=10⁵, asym. p=0.01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3026664"/>
            <a:ext cx="8375904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26664"/>
            <a:ext cx="274320" cy="4754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02666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30632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Non-negative clip + ℓ₂ normalisation: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24528" y="3063240"/>
            <a:ext cx="4261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q̃ = z / ‖z‖₂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3557016"/>
            <a:ext cx="8375904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557016"/>
            <a:ext cx="54864" cy="438912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584448"/>
            <a:ext cx="8193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interpolation must precede smoothing.  w_physical = w·δν — coupling SG to native step.  A CSV at δν=4 cm⁻¹, w=11 gives 44 cm⁻¹ window (wider than Raman FWHM).  Fix lifted Quartz top-1 confidence from 41% → 86%.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Combined-Metric Spectral Matcher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preprocessed query q̃ and reference row rm, define the combined similarity score: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80160" y="1042416"/>
            <a:ext cx="6583680" cy="676656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42416"/>
            <a:ext cx="6583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3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s(q̃, rm)  =  ½ ⟨q̃, r̂m⟩  +  ½ ⟨D²q̃̂, D²r̂m⟩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4048" y="1773936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D² = SG second-derivative operator     v̂ = (v − v̅·1) / ‖v − v̅·1‖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121408"/>
            <a:ext cx="4119372" cy="1207008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121408"/>
            <a:ext cx="4119372" cy="27432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21408"/>
            <a:ext cx="4119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term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450592"/>
            <a:ext cx="39364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to entire bandshape. Over-rewards minerals whose RRUFF average drifts in the same direction as the query (baseline slope).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0580" y="2121408"/>
            <a:ext cx="4119372" cy="1207008"/>
          </a:xfrm>
          <a:prstGeom prst="rect">
            <a:avLst/>
          </a:prstGeom>
          <a:solidFill>
            <a:srgbClr val="F5E6E8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0580" y="2121408"/>
            <a:ext cx="4119372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0580" y="2121408"/>
            <a:ext cx="4119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Second-derivative Pearson term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2020" y="2450592"/>
            <a:ext cx="39364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Emphasises peak position and sharpness. Penalises flat spectral regions. Each metric vetos the other’s failure mode; equal weights from held-out grid search.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3456432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matrix  A = [r¹s,…,r²⁵s, r¹r,…,r²⁴⁵⁶r]ᵀ  ∈  ℝ²˃⁰²×¹⁹⁵¹   (25 synthetic + 2,456 RRUFF-averaged rows)   |   Equal weights by held-out grid search.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1-D Residual Classifier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731520"/>
          <a:ext cx="5486400" cy="2377440"/>
        </p:xfrm>
        <a:graphic>
          <a:graphicData uri="http://schemas.openxmlformats.org/drawingml/2006/table">
            <a:tbl>
              <a:tblPr/>
              <a:tblGrid>
                <a:gridCol w="960120"/>
                <a:gridCol w="3063240"/>
                <a:gridCol w="14630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 shape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Stem-1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Conv1D(k=25, s=2) → BN → GELU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(B, 32, 488)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Stem-2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Conv1D(k=15, s=2) → BN → GELU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(B, 32, 244)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 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3× Pre-act ResBlock(32, k=7)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(B, 32, 244)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Down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Conv1D(k=5, s=2) → BN → GELU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(B, 64, 122)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 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3× Pre-act ResBlock(64, k=5)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(B, 64, 122)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Pool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Adaptive Average Pool 1D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(B, 64)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FC₆₄→₅¹² → GELU → FC₅¹²→₈₅¹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(B, 851)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 params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663,539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851 classes (min_spectra ≥ 2)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731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72200" y="102412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Loss: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CE + smooth ε=0.1 + Mixup(α=0.4)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Opt: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AdamW + OneCycleLR, lr=10⁻³, wd=10⁻⁴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Aug: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V=25 variants per sample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4048" y="3172968"/>
            <a:ext cx="83759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Augmentations  (V = 25 per training sample)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347472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noise: σ ∼ U(0.002, 0.025)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4048" y="374904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Multiplicative jitter: β ∼ U(0.75, 1.25)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4048" y="402336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Wavenumber shift: Δν ∼ U{−10, +10} cm⁻¹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63440" y="347472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baseline (deg 1–3, p=0.30, A=0.01)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374904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Moving-avg broadening (p=0.40, w∈{2,3,4})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63440" y="402336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dropout (p=0.20, ≤4 points→0)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Candidate-Restricted NNLS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Aᶜ ∈ ℝ|ᶜ|×P be the row selection of the reference matrix indexed by candidate set C. Solve: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1051560"/>
            <a:ext cx="5852160" cy="621792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05156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3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x*  =  arg min_{x ≥ 0}  ‖ Aᶜᵀ x  −  q̃ ‖²₂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4048" y="1792224"/>
            <a:ext cx="83759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set construction: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749808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75688"/>
            <a:ext cx="7498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3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=  C_synth  ∪  { m ∈ C_rruff  :  s(q̃, rm) &gt; max_{m'∈C_synth} s(q̃, rm')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816352"/>
            <a:ext cx="8375904" cy="1005840"/>
          </a:xfrm>
          <a:prstGeom prst="rect">
            <a:avLst/>
          </a:prstGeom>
          <a:solidFill>
            <a:srgbClr val="F0F8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16352"/>
            <a:ext cx="54864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8620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restrict?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3127248"/>
            <a:ext cx="8174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|ℛ| = 2,481 candidates and P = 1,951 equations the full system is underdetermined (more unknowns than equations). NNLS spreads credit arbitrarily across minerals sharing a spectral peak. Restricting to ∼30 well-separated basis rows renders the system over-determined and physically interpretable.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Confidence-Aware Dispatcher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731520"/>
            <a:ext cx="8375904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731520"/>
            <a:ext cx="8375904" cy="310896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731520"/>
            <a:ext cx="8119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1: AUTOIDENTIFY  —  selects the most confident identifier per query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698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preprocessed query q̃,  threshold τ_min = 0.55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top-K list,  dispatch tag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Y  ←  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708099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m_s  ←  SpectralMatch(q̃);    Y  ←  Y ∪ {(m_s[1].c, "matching", m_s)}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907438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if CNN available then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6968" y="2106778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m_n  ←  CNNPredict(q̃)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2306117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if m_n[1].c ≥ τ_min  then  Y  ←  Y ∪ {(m_n[1].c, "cnn", m_n)}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0545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if RF available then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6968" y="2704795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m_r  ←  RFPredict(q̃)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" y="290413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if m_r[1].c ≥ τ_min  then  Y  ←  Y ∪ {(m_r[1].c, "rf", m_r)}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103474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return  arg max_{(c,·,m)∈Y}  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474720"/>
            <a:ext cx="8375904" cy="493776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474720"/>
            <a:ext cx="54864" cy="493776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502152"/>
            <a:ext cx="8174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matching is always evaluated as a deterministic safety net. Learned models must clear τ_min to prevent confidently-wrong out-of-distribution predictions.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accuracy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5029200" cy="132588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8229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Top-1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Top-5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CNN — augmented validation (851 classes)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98.6%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RF (PCA-120 + ExtraTrees-150)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94.5%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Combined matcher — synthetic demo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Combined matcher — held-out RRUFF (n=6)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84048" y="2450592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Per-mineral held-out RRUFF (auto mode, one specimen per mineral withheld from training)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724912"/>
          <a:ext cx="8375904" cy="1847088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914400"/>
                <a:gridCol w="1371600"/>
                <a:gridCol w="33832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Mineral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Matcher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CNN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 chose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Quartz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96.9%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86.4%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matching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✓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Calcite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89.7%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cnn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✓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Hematite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91.6%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90.1%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matching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✓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Forsterite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95.8%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matching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✓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Aegirine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97.0%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cnn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✓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Magnetite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76.6%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90.1%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cnn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5E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✓  (matcher→Westerveldite)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Latency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a single laptop GPU (RTX 3050, 16 GB RAM).  Budget τ ≤ 1 s — achieved at 160 ms median.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2057400"/>
        </p:xfrm>
        <a:graphic>
          <a:graphicData uri="http://schemas.openxmlformats.org/drawingml/2006/table">
            <a:tbl>
              <a:tblPr/>
              <a:tblGrid>
                <a:gridCol w="493776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Pipeline stage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 latency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File parse + linear interpolation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45 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Cosmic-ray suppression + Savitzky–Golay + ALS baseline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35 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Combined-metric spectral matcher (2,481 rows)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25 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CNN forward pass (RTX 3050)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12 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Candidate-set NNLS decomposition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35 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End-to-end total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160 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0" y="3310128"/>
            <a:ext cx="2743200" cy="1051560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334670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ms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3200400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  (budget: 1 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Limitation: Scarcity of Diverse Reference Data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8375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fundamental bottleneck is the non-availability of curated, instrument-diverse Raman spectra with validated mineral labels.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133856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library and training set draw exclusively from RRUFF — a single-lab archive with its own instrument family, acquisition protocols, and specimen-selection biases.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682496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RRUFF coverage is uneven: 2,456 mineral averages, many built from ≤3 raw specimens; rare minerals may have only 1 usable spectrum.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2231136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Consequence: behaviour on a novel instrument’s noise profile cannot be certified without an independent held-out test set from that instrument family.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2779776"/>
            <a:ext cx="8284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— Magnetite: 2 of 6 RRUFF specimens carry an instrumental cut-off artefact at 100 cm⁻¹, diluting the genuine 660–682 cm⁻¹ peak. Matcher returns Westerveldite; CNN recovers correct answer at 90%.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3364992"/>
            <a:ext cx="8375904" cy="457200"/>
          </a:xfrm>
          <a:prstGeom prst="rect">
            <a:avLst/>
          </a:prstGeom>
          <a:solidFill>
            <a:srgbClr val="EEF4FA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3364992"/>
            <a:ext cx="54864" cy="4572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392424"/>
            <a:ext cx="8174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forward: multi-lab, quality-annotated spectral databases — an open data problem, not a modelling problem.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887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Contributions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731520"/>
            <a:ext cx="411480" cy="53035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3152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74980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Grid-canonical preprocessing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005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Smoothing and baseline operators independent of the spectrometer’s native sampling; interpolation-first invariant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1353312"/>
            <a:ext cx="411480" cy="53035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5331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13716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Combined-metric spectral matcher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162763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½ cosine + ½ second-derivative Pearson; each term vetos the other’s failure mode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1975104"/>
            <a:ext cx="411480" cy="53035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9751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199339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663,539-parameter 1-D ResNet classifier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224942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98.6% top-1 on 851 classes; 7-mode augmentation + Mixup; synthetic profiles appended to every matching class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596896"/>
            <a:ext cx="411480" cy="53035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9689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261518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Candidate-restricted NNLS decomposition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287121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Converts underdetermined system (|ℛ|=2,481, P=1,951) into a ∼30-row over-determined, physically interpretable problem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3218688"/>
            <a:ext cx="411480" cy="53035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1868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323697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Confidence-aware dispatcher  (τ_min = 0.55)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3493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Selects best identifier per query; spectral matching as permanent safety net; 160 ms end-to-end latency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344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0" y="2231136"/>
            <a:ext cx="3657600" cy="2286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5915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Uploading Quartz, Calcite, Pyrite, Gypsum spectra and a binary mixture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live Flask endpoint for real-time identification and NNLS decomposition.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3310128"/>
            <a:ext cx="2194560" cy="914400"/>
          </a:xfrm>
          <a:prstGeom prst="rect">
            <a:avLst/>
          </a:prstGeom>
          <a:solidFill>
            <a:srgbClr val="1E4A6A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ms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63040" y="3904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3310128"/>
            <a:ext cx="2194560" cy="914400"/>
          </a:xfrm>
          <a:prstGeom prst="rect">
            <a:avLst/>
          </a:prstGeom>
          <a:solidFill>
            <a:srgbClr val="1E4A6A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14800" y="3904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top-1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3310128"/>
            <a:ext cx="2194560" cy="914400"/>
          </a:xfrm>
          <a:prstGeom prst="rect">
            <a:avLst/>
          </a:prstGeom>
          <a:solidFill>
            <a:srgbClr val="1E4A6A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3904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48691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Spectral-Matching and Deep-Learning System for Real-Time Mineral Identification from Raman Spectra</dc:title>
  <dc:subject>PptxGenJS Presentation</dc:subject>
  <dc:creator>Rahul</dc:creator>
  <cp:lastModifiedBy>Rahul</cp:lastModifiedBy>
  <cp:revision>1</cp:revision>
  <dcterms:created xsi:type="dcterms:W3CDTF">2026-05-08T10:06:37Z</dcterms:created>
  <dcterms:modified xsi:type="dcterms:W3CDTF">2026-05-08T10:06:37Z</dcterms:modified>
</cp:coreProperties>
</file>